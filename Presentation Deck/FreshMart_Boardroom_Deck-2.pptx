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b8899668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" name="Google Shape;16;g3fb8899668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b8899668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8899668e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fb8899668e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b8899668e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121C3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9" name="Google Shape;1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-47625" y="0"/>
            <a:ext cx="12287250" cy="685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HEADLINE FINDING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548640" y="1188720"/>
            <a:ext cx="109728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It's not that customers are buying less.</a:t>
            </a:r>
            <a:endParaRPr b="0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It's that trips have changed shape.</a:t>
            </a:r>
            <a:endParaRPr b="0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8"/>
          <p:cNvSpPr/>
          <p:nvPr/>
        </p:nvSpPr>
        <p:spPr>
          <a:xfrm>
            <a:off x="548640" y="3063240"/>
            <a:ext cx="3520440" cy="2834640"/>
          </a:xfrm>
          <a:prstGeom prst="roundRect">
            <a:avLst>
              <a:gd fmla="val 2581" name="adj"/>
            </a:avLst>
          </a:prstGeom>
          <a:solidFill>
            <a:srgbClr val="21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C3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1C3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82296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 shift (primary)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822960" y="443484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9D2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2E0"/>
                </a:solidFill>
                <a:latin typeface="Calibri"/>
                <a:ea typeface="Calibri"/>
                <a:cs typeface="Calibri"/>
                <a:sym typeface="Calibri"/>
              </a:rPr>
              <a:t>Small top-up trips grew from 38% to 46% of all baskets; large stock-up trips fell from 40% to 34%. Spend inside each trip type barely moved.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4343400" y="3063240"/>
            <a:ext cx="3520440" cy="2834640"/>
          </a:xfrm>
          <a:prstGeom prst="roundRect">
            <a:avLst>
              <a:gd fmla="val 2581" name="adj"/>
            </a:avLst>
          </a:prstGeom>
          <a:solidFill>
            <a:srgbClr val="21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4617720" y="3337560"/>
            <a:ext cx="502920" cy="50292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461772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C3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1C3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461772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Competitor entry (secondary)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4617720" y="443484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9D2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2E0"/>
                </a:solidFill>
                <a:latin typeface="Calibri"/>
                <a:ea typeface="Calibri"/>
                <a:cs typeface="Calibri"/>
                <a:sym typeface="Calibri"/>
              </a:rPr>
              <a:t>The 12 stores that gained a nearby discount competitor lost ~17% more basket value than matched stores over the same window.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8138160" y="3063240"/>
            <a:ext cx="3520440" cy="2834640"/>
          </a:xfrm>
          <a:prstGeom prst="roundRect">
            <a:avLst>
              <a:gd fmla="val 2581" name="adj"/>
            </a:avLst>
          </a:prstGeom>
          <a:solidFill>
            <a:srgbClr val="21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8412480" y="3337560"/>
            <a:ext cx="502920" cy="50292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8412480" y="3337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C3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21C3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8412480" y="39776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Stockouts (minor)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8412480" y="443484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C9D2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2E0"/>
                </a:solidFill>
                <a:latin typeface="Calibri"/>
                <a:ea typeface="Calibri"/>
                <a:cs typeface="Calibri"/>
                <a:sym typeface="Calibri"/>
              </a:rPr>
              <a:t>Baskets are ~16% smaller on stockout-affected days — real, but limited to 6 stores and one category.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6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EVIDENCE 1 OF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decline is gradual, not a single shock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5257800" cy="4251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600200"/>
            <a:ext cx="525780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single month explains the shift — this points to a structural change in shopping patterns, not a one-off event.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EVIDENCE 2 OF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Small top-up trips are replacing large stock-up trips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521208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600200"/>
            <a:ext cx="521208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EVIDENCE 3 OF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Two humps, not one bell curve shifting left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1078992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/>
          <p:nvPr/>
        </p:nvSpPr>
        <p:spPr>
          <a:xfrm>
            <a:off x="548640" y="6035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If everyone were simply buying a bit less, the whole curve would shift left. Instead the top-up peak grows and the stock-up peak shrinks — the population of trips is changing, not individual behaviour.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EVIDENCE 4 OF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Competitor entry costs ~17% beyond the seasonal trend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691640"/>
            <a:ext cx="73152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8732520" y="2103120"/>
            <a:ext cx="2880360" cy="3291840"/>
          </a:xfrm>
          <a:prstGeom prst="roundRect">
            <a:avLst>
              <a:gd fmla="val 2540" name="adj"/>
            </a:avLst>
          </a:prstGeom>
          <a:solidFill>
            <a:srgbClr val="F7F7F5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8961120" y="233172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DIFFERENCE-IN-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DIFFERENCES EFFECT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/>
          <p:nvPr/>
        </p:nvSpPr>
        <p:spPr>
          <a:xfrm>
            <a:off x="8961120" y="2880360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-16.8%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8961120" y="3886200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Consistent across all 12 affected stores individually — not driven by one outlier.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WHAT WE RULED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Six hypotheses tested — two explain almost everything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822960" y="181051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Mix shift toward small trips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7955280" y="1874520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7955280" y="1874520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Supported — primary driver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548640" y="2450592"/>
            <a:ext cx="11064240" cy="71323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822960" y="2523744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Competitor entry near specific stores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7955280" y="2587752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7955280" y="2587752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Supported — secondary driver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822960" y="3236976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Stockouts / availability gaps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7955280" y="3300984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7955280" y="3300984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Supported — minor, narrow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548640" y="3877056"/>
            <a:ext cx="11064240" cy="71323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822960" y="395020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Uniform “customers buying less” behaviour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7955280" y="4014216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7955280" y="4014216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822960" y="4663440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Store format or province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7955280" y="4727448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7955280" y="4727448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548640" y="5303520"/>
            <a:ext cx="11064240" cy="713232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822960" y="537667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Day of week / payment method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7955280" y="5440680"/>
            <a:ext cx="3200400" cy="438912"/>
          </a:xfrm>
          <a:prstGeom prst="roundRect">
            <a:avLst>
              <a:gd fmla="val 12500" name="adj"/>
            </a:avLst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7955280" y="5440680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 (red herrings)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RECOMMENDATIONS · 2 OF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Defend the stores under direct competitive pressure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548640" y="1691640"/>
            <a:ext cx="5257800" cy="4297680"/>
          </a:xfrm>
          <a:prstGeom prst="roundRect">
            <a:avLst>
              <a:gd fmla="val 1702" name="adj"/>
            </a:avLst>
          </a:prstGeom>
          <a:solidFill>
            <a:srgbClr val="F7F7F5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868680" y="274320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Targeted competitive response at the 12 affected stores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868680" y="3566160"/>
            <a:ext cx="4617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Local price-matching on key value items, geo-targeted promotions, and loyalty offers timed to each competitor's opening.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868680" y="5029200"/>
            <a:ext cx="4617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Owner: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Pricing Manager + Store Managers</a:t>
            </a:r>
            <a:b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Impact: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Medium, concentrated</a:t>
            </a:r>
            <a:b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Effort: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6172200" y="1691640"/>
            <a:ext cx="5257800" cy="4297680"/>
          </a:xfrm>
          <a:prstGeom prst="roundRect">
            <a:avLst>
              <a:gd fmla="val 1702" name="adj"/>
            </a:avLst>
          </a:prstGeom>
          <a:solidFill>
            <a:srgbClr val="F7F7F5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6492240" y="2743200"/>
            <a:ext cx="4617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Fix the Household Cleaning replenishment gap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492240" y="3566160"/>
            <a:ext cx="4617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Review supplier lead times and safety stock at the 6 stockout-affected stores — a quick, low-cost operational fix.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6492240" y="5029200"/>
            <a:ext cx="4617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Owner: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Regional Ops Manager</a:t>
            </a:r>
            <a:b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Impact: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Low chain-wide</a:t>
            </a:r>
            <a:b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Effort:  </a:t>
            </a:r>
            <a:r>
              <a:rPr b="0" i="0" lang="en-US" sz="12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MEASURING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 fair test, and a dashboard that won't be fooled again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fmla="val 1739" name="adj"/>
            </a:avLst>
          </a:prstGeom>
          <a:solidFill>
            <a:srgbClr val="F7F7F5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86868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HOW WE'LL TEST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68680" y="2377440"/>
            <a:ext cx="4663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Pilot basket-building offers in 8–10 stores </a:t>
            </a: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spanning all formats and provinces, with a matched control group receiving no offer — the same before/after, treatment-vs-control design already validated on the competitor analysis.</a:t>
            </a:r>
            <a:b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Reuse the 12 competitor-affected stores </a:t>
            </a: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as the treatment group for the competitive response, with the 30 unaffected stores as controls.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355080" y="1691640"/>
            <a:ext cx="5257800" cy="4206240"/>
          </a:xfrm>
          <a:prstGeom prst="roundRect">
            <a:avLst>
              <a:gd fmla="val 1739" name="adj"/>
            </a:avLst>
          </a:prstGeom>
          <a:solidFill>
            <a:srgbClr val="F7F7F5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MONTHLY DASHBOARD TRACKS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675120" y="2377440"/>
            <a:ext cx="46634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Trip-type mix % (Small / Medium / Large) — not just the blended average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Average basket value within each trip-type band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Basket value at the 12 competitor-affected stores vs controls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740"/>
              </a:lnSpc>
              <a:spcBef>
                <a:spcPts val="10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Open stockout incidents by category and store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9B0B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9B0B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Approve the pilot, defend the 12 stores, close the data gaps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48640" y="2880360"/>
            <a:ext cx="10515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8EB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EBF0"/>
                </a:solidFill>
                <a:latin typeface="Calibri"/>
                <a:ea typeface="Calibri"/>
                <a:cs typeface="Calibri"/>
                <a:sym typeface="Calibri"/>
              </a:rPr>
              <a:t>1.  Sign off the 8–10 store basket-building pilot, with controls, starting next month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176"/>
              </a:lnSpc>
              <a:spcBef>
                <a:spcPts val="1800"/>
              </a:spcBef>
              <a:spcAft>
                <a:spcPts val="0"/>
              </a:spcAft>
              <a:buClr>
                <a:srgbClr val="E8EB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EBF0"/>
                </a:solidFill>
                <a:latin typeface="Calibri"/>
                <a:ea typeface="Calibri"/>
                <a:cs typeface="Calibri"/>
                <a:sym typeface="Calibri"/>
              </a:rPr>
              <a:t>2.  Approve a targeted pricing/promotion response for the 12 competitor-affected stores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176"/>
              </a:lnSpc>
              <a:spcBef>
                <a:spcPts val="1800"/>
              </a:spcBef>
              <a:spcAft>
                <a:spcPts val="0"/>
              </a:spcAft>
              <a:buClr>
                <a:srgbClr val="E8EBF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8EBF0"/>
                </a:solidFill>
                <a:latin typeface="Calibri"/>
                <a:ea typeface="Calibri"/>
                <a:cs typeface="Calibri"/>
                <a:sym typeface="Calibri"/>
              </a:rPr>
              <a:t>3.  Commission a follow-up data request: pricing/promotion history and online/delivery order data, to close the two open questions in this 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6"/>
                </a:solidFill>
                <a:latin typeface="Calibri"/>
                <a:ea typeface="Calibri"/>
                <a:cs typeface="Calibri"/>
                <a:sym typeface="Calibri"/>
              </a:rPr>
              <a:t>Next step: pilot design and store selection, ready for sign-off within two weeks.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6"/>
                </a:solidFill>
                <a:latin typeface="Calibri"/>
                <a:ea typeface="Calibri"/>
                <a:cs typeface="Calibri"/>
                <a:sym typeface="Calibri"/>
              </a:rPr>
              <a:t>FreshMart Basket Investigation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